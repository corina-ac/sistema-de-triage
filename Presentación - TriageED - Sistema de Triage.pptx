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62" r:id="rId5"/>
    <p:sldId id="263" r:id="rId6"/>
    <p:sldId id="264" r:id="rId7"/>
    <p:sldId id="259" r:id="rId8"/>
    <p:sldId id="260" r:id="rId9"/>
  </p:sldIdLst>
  <p:sldSz cx="9144000" cy="5143500" type="screen16x9"/>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948">
          <p15:clr>
            <a:srgbClr val="A4A3A4"/>
          </p15:clr>
        </p15:guide>
        <p15:guide id="3" pos="1383">
          <p15:clr>
            <a:srgbClr val="A4A3A4"/>
          </p15:clr>
        </p15:guide>
        <p15:guide id="4" pos="2837">
          <p15:clr>
            <a:srgbClr val="A4A3A4"/>
          </p15:clr>
        </p15:guide>
        <p15:guide id="5" pos="2840">
          <p15:clr>
            <a:srgbClr val="A4A3A4"/>
          </p15:clr>
        </p15:guide>
        <p15:guide id="6" pos="2830">
          <p15:clr>
            <a:srgbClr val="A4A3A4"/>
          </p15:clr>
        </p15:guide>
        <p15:guide id="7" pos="2880">
          <p15:clr>
            <a:srgbClr val="A4A3A4"/>
          </p15:clr>
        </p15:guide>
        <p15:guide id="8" orient="horz">
          <p15:clr>
            <a:srgbClr val="A4A3A4"/>
          </p15:clr>
        </p15:guide>
        <p15:guide id="9" pos="2879">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852" y="78"/>
      </p:cViewPr>
      <p:guideLst>
        <p:guide orient="horz" pos="1620"/>
        <p:guide pos="2948"/>
        <p:guide pos="1383"/>
        <p:guide pos="2837"/>
        <p:guide pos="2840"/>
        <p:guide pos="2830"/>
        <p:guide pos="2880"/>
        <p:guide orient="horz"/>
        <p:guide pos="2879"/>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C"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d4bc88f75c_2_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g2d4bc88f75c_2_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9B77CBE-3637-BB05-B8F8-306CC8203FF6}"/>
            </a:ext>
          </a:extLst>
        </p:cNvPr>
        <p:cNvGrpSpPr/>
        <p:nvPr/>
      </p:nvGrpSpPr>
      <p:grpSpPr>
        <a:xfrm>
          <a:off x="0" y="0"/>
          <a:ext cx="0" cy="0"/>
          <a:chOff x="0" y="0"/>
          <a:chExt cx="0" cy="0"/>
        </a:xfrm>
      </p:grpSpPr>
      <p:sp>
        <p:nvSpPr>
          <p:cNvPr id="107" name="Google Shape;107;p1:notes">
            <a:extLst>
              <a:ext uri="{FF2B5EF4-FFF2-40B4-BE49-F238E27FC236}">
                <a16:creationId xmlns:a16="http://schemas.microsoft.com/office/drawing/2014/main" id="{379F17BE-828B-CBC3-590A-86894C45430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1:notes">
            <a:extLst>
              <a:ext uri="{FF2B5EF4-FFF2-40B4-BE49-F238E27FC236}">
                <a16:creationId xmlns:a16="http://schemas.microsoft.com/office/drawing/2014/main" id="{FF941ABA-0ADD-5EE7-FDA4-729462B9F1B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9031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9B77CBE-3637-BB05-B8F8-306CC8203FF6}"/>
            </a:ext>
          </a:extLst>
        </p:cNvPr>
        <p:cNvGrpSpPr/>
        <p:nvPr/>
      </p:nvGrpSpPr>
      <p:grpSpPr>
        <a:xfrm>
          <a:off x="0" y="0"/>
          <a:ext cx="0" cy="0"/>
          <a:chOff x="0" y="0"/>
          <a:chExt cx="0" cy="0"/>
        </a:xfrm>
      </p:grpSpPr>
      <p:sp>
        <p:nvSpPr>
          <p:cNvPr id="107" name="Google Shape;107;p1:notes">
            <a:extLst>
              <a:ext uri="{FF2B5EF4-FFF2-40B4-BE49-F238E27FC236}">
                <a16:creationId xmlns:a16="http://schemas.microsoft.com/office/drawing/2014/main" id="{379F17BE-828B-CBC3-590A-86894C45430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1:notes">
            <a:extLst>
              <a:ext uri="{FF2B5EF4-FFF2-40B4-BE49-F238E27FC236}">
                <a16:creationId xmlns:a16="http://schemas.microsoft.com/office/drawing/2014/main" id="{FF941ABA-0ADD-5EE7-FDA4-729462B9F1B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2202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9B77CBE-3637-BB05-B8F8-306CC8203FF6}"/>
            </a:ext>
          </a:extLst>
        </p:cNvPr>
        <p:cNvGrpSpPr/>
        <p:nvPr/>
      </p:nvGrpSpPr>
      <p:grpSpPr>
        <a:xfrm>
          <a:off x="0" y="0"/>
          <a:ext cx="0" cy="0"/>
          <a:chOff x="0" y="0"/>
          <a:chExt cx="0" cy="0"/>
        </a:xfrm>
      </p:grpSpPr>
      <p:sp>
        <p:nvSpPr>
          <p:cNvPr id="107" name="Google Shape;107;p1:notes">
            <a:extLst>
              <a:ext uri="{FF2B5EF4-FFF2-40B4-BE49-F238E27FC236}">
                <a16:creationId xmlns:a16="http://schemas.microsoft.com/office/drawing/2014/main" id="{379F17BE-828B-CBC3-590A-86894C45430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1:notes">
            <a:extLst>
              <a:ext uri="{FF2B5EF4-FFF2-40B4-BE49-F238E27FC236}">
                <a16:creationId xmlns:a16="http://schemas.microsoft.com/office/drawing/2014/main" id="{FF941ABA-0ADD-5EE7-FDA4-729462B9F1B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5770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9B77CBE-3637-BB05-B8F8-306CC8203FF6}"/>
            </a:ext>
          </a:extLst>
        </p:cNvPr>
        <p:cNvGrpSpPr/>
        <p:nvPr/>
      </p:nvGrpSpPr>
      <p:grpSpPr>
        <a:xfrm>
          <a:off x="0" y="0"/>
          <a:ext cx="0" cy="0"/>
          <a:chOff x="0" y="0"/>
          <a:chExt cx="0" cy="0"/>
        </a:xfrm>
      </p:grpSpPr>
      <p:sp>
        <p:nvSpPr>
          <p:cNvPr id="107" name="Google Shape;107;p1:notes">
            <a:extLst>
              <a:ext uri="{FF2B5EF4-FFF2-40B4-BE49-F238E27FC236}">
                <a16:creationId xmlns:a16="http://schemas.microsoft.com/office/drawing/2014/main" id="{379F17BE-828B-CBC3-590A-86894C45430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1:notes">
            <a:extLst>
              <a:ext uri="{FF2B5EF4-FFF2-40B4-BE49-F238E27FC236}">
                <a16:creationId xmlns:a16="http://schemas.microsoft.com/office/drawing/2014/main" id="{FF941ABA-0ADD-5EE7-FDA4-729462B9F1B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48730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13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8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3300"/>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SzPts val="2100"/>
              <a:buNone/>
              <a:defRPr sz="1800"/>
            </a:lvl1pPr>
            <a:lvl2pPr lvl="1" algn="ctr">
              <a:lnSpc>
                <a:spcPct val="90000"/>
              </a:lnSpc>
              <a:spcBef>
                <a:spcPts val="375"/>
              </a:spcBef>
              <a:spcAft>
                <a:spcPts val="0"/>
              </a:spcAft>
              <a:buSzPts val="1800"/>
              <a:buNone/>
              <a:defRPr sz="1500"/>
            </a:lvl2pPr>
            <a:lvl3pPr lvl="2" algn="ctr">
              <a:lnSpc>
                <a:spcPct val="90000"/>
              </a:lnSpc>
              <a:spcBef>
                <a:spcPts val="375"/>
              </a:spcBef>
              <a:spcAft>
                <a:spcPts val="0"/>
              </a:spcAft>
              <a:buSzPts val="1500"/>
              <a:buNone/>
              <a:defRPr sz="1350"/>
            </a:lvl3pPr>
            <a:lvl4pPr lvl="3" algn="ctr">
              <a:lnSpc>
                <a:spcPct val="90000"/>
              </a:lnSpc>
              <a:spcBef>
                <a:spcPts val="375"/>
              </a:spcBef>
              <a:spcAft>
                <a:spcPts val="0"/>
              </a:spcAft>
              <a:buSzPts val="1350"/>
              <a:buNone/>
              <a:defRPr sz="1200"/>
            </a:lvl4pPr>
            <a:lvl5pPr lvl="4" algn="ctr">
              <a:lnSpc>
                <a:spcPct val="90000"/>
              </a:lnSpc>
              <a:spcBef>
                <a:spcPts val="375"/>
              </a:spcBef>
              <a:spcAft>
                <a:spcPts val="0"/>
              </a:spcAft>
              <a:buSzPts val="1350"/>
              <a:buNone/>
              <a:defRPr sz="1200"/>
            </a:lvl5pPr>
            <a:lvl6pPr lvl="5" algn="ctr">
              <a:lnSpc>
                <a:spcPct val="90000"/>
              </a:lnSpc>
              <a:spcBef>
                <a:spcPts val="375"/>
              </a:spcBef>
              <a:spcAft>
                <a:spcPts val="0"/>
              </a:spcAft>
              <a:buSzPts val="1350"/>
              <a:buNone/>
              <a:defRPr sz="1200"/>
            </a:lvl6pPr>
            <a:lvl7pPr lvl="6" algn="ctr">
              <a:lnSpc>
                <a:spcPct val="90000"/>
              </a:lnSpc>
              <a:spcBef>
                <a:spcPts val="375"/>
              </a:spcBef>
              <a:spcAft>
                <a:spcPts val="0"/>
              </a:spcAft>
              <a:buSzPts val="1350"/>
              <a:buNone/>
              <a:defRPr sz="1200"/>
            </a:lvl7pPr>
            <a:lvl8pPr lvl="7" algn="ctr">
              <a:lnSpc>
                <a:spcPct val="90000"/>
              </a:lnSpc>
              <a:spcBef>
                <a:spcPts val="375"/>
              </a:spcBef>
              <a:spcAft>
                <a:spcPts val="0"/>
              </a:spcAft>
              <a:buSzPts val="1350"/>
              <a:buNone/>
              <a:defRPr sz="1200"/>
            </a:lvl8pPr>
            <a:lvl9pPr lvl="8" algn="ctr">
              <a:lnSpc>
                <a:spcPct val="90000"/>
              </a:lnSpc>
              <a:spcBef>
                <a:spcPts val="375"/>
              </a:spcBef>
              <a:spcAft>
                <a:spcPts val="0"/>
              </a:spcAft>
              <a:buSzPts val="1350"/>
              <a:buNone/>
              <a:defRPr sz="1200"/>
            </a:lvl9pPr>
          </a:lstStyle>
          <a:p>
            <a:endParaRPr/>
          </a:p>
        </p:txBody>
      </p:sp>
      <p:sp>
        <p:nvSpPr>
          <p:cNvPr id="18" name="Google Shape;18;p8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8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8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7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 name="Google Shape;24;p7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7"/>
        <p:cNvGrpSpPr/>
        <p:nvPr/>
      </p:nvGrpSpPr>
      <p:grpSpPr>
        <a:xfrm>
          <a:off x="0" y="0"/>
          <a:ext cx="0" cy="0"/>
          <a:chOff x="0" y="0"/>
          <a:chExt cx="0" cy="0"/>
        </a:xfrm>
      </p:grpSpPr>
      <p:sp>
        <p:nvSpPr>
          <p:cNvPr id="28" name="Google Shape;28;p7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7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1"/>
        <p:cNvGrpSpPr/>
        <p:nvPr/>
      </p:nvGrpSpPr>
      <p:grpSpPr>
        <a:xfrm>
          <a:off x="0" y="0"/>
          <a:ext cx="0" cy="0"/>
          <a:chOff x="0" y="0"/>
          <a:chExt cx="0" cy="0"/>
        </a:xfrm>
      </p:grpSpPr>
      <p:sp>
        <p:nvSpPr>
          <p:cNvPr id="32" name="Google Shape;32;p76"/>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6"/>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4" name="Google Shape;34;p7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7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7"/>
        <p:cNvGrpSpPr/>
        <p:nvPr/>
      </p:nvGrpSpPr>
      <p:grpSpPr>
        <a:xfrm>
          <a:off x="0" y="0"/>
          <a:ext cx="0" cy="0"/>
          <a:chOff x="0" y="0"/>
          <a:chExt cx="0" cy="0"/>
        </a:xfrm>
      </p:grpSpPr>
      <p:sp>
        <p:nvSpPr>
          <p:cNvPr id="38" name="Google Shape;38;p77"/>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77"/>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0" name="Google Shape;40;p77"/>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7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7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4"/>
        <p:cNvGrpSpPr/>
        <p:nvPr/>
      </p:nvGrpSpPr>
      <p:grpSpPr>
        <a:xfrm>
          <a:off x="0" y="0"/>
          <a:ext cx="0" cy="0"/>
          <a:chOff x="0" y="0"/>
          <a:chExt cx="0" cy="0"/>
        </a:xfrm>
      </p:grpSpPr>
      <p:sp>
        <p:nvSpPr>
          <p:cNvPr id="45" name="Google Shape;45;p78"/>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8"/>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7" name="Google Shape;47;p78"/>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8" name="Google Shape;48;p78"/>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78"/>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7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79"/>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7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80"/>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80"/>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80"/>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8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8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8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81"/>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81"/>
          <p:cNvSpPr>
            <a:spLocks noGrp="1"/>
          </p:cNvSpPr>
          <p:nvPr>
            <p:ph type="pic" idx="2"/>
          </p:nvPr>
        </p:nvSpPr>
        <p:spPr>
          <a:xfrm>
            <a:off x="3887391" y="740569"/>
            <a:ext cx="4629150" cy="3655219"/>
          </a:xfrm>
          <a:prstGeom prst="rect">
            <a:avLst/>
          </a:prstGeom>
          <a:noFill/>
          <a:ln>
            <a:noFill/>
          </a:ln>
        </p:spPr>
      </p:sp>
      <p:sp>
        <p:nvSpPr>
          <p:cNvPr id="68" name="Google Shape;68;p81"/>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8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8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8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82"/>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2"/>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8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8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83"/>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83"/>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8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8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72"/>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2"/>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7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C"/>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d4bc88f75c_2_1"/>
          <p:cNvPicPr preferRelativeResize="0"/>
          <p:nvPr/>
        </p:nvPicPr>
        <p:blipFill rotWithShape="1">
          <a:blip r:embed="rId3">
            <a:alphaModFix/>
          </a:blip>
          <a:srcRect/>
          <a:stretch/>
        </p:blipFill>
        <p:spPr>
          <a:xfrm>
            <a:off x="0" y="0"/>
            <a:ext cx="9144002" cy="5143501"/>
          </a:xfrm>
          <a:prstGeom prst="rect">
            <a:avLst/>
          </a:prstGeom>
          <a:noFill/>
          <a:ln>
            <a:noFill/>
          </a:ln>
        </p:spPr>
      </p:pic>
      <p:sp>
        <p:nvSpPr>
          <p:cNvPr id="89" name="Google Shape;89;g2d4bc88f75c_2_1"/>
          <p:cNvSpPr txBox="1"/>
          <p:nvPr/>
        </p:nvSpPr>
        <p:spPr>
          <a:xfrm>
            <a:off x="-1380932" y="1900784"/>
            <a:ext cx="9386596" cy="437002"/>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rgbClr val="000000"/>
              </a:buClr>
              <a:buSzPts val="2800"/>
              <a:buFont typeface="Arial"/>
              <a:buNone/>
            </a:pPr>
            <a:r>
              <a:rPr lang="es-EC" sz="2800" b="1" i="0" u="none" strike="noStrike" cap="none" dirty="0" err="1">
                <a:solidFill>
                  <a:srgbClr val="FFFFFF"/>
                </a:solidFill>
                <a:latin typeface="Arial"/>
                <a:ea typeface="Arial"/>
                <a:cs typeface="Arial"/>
                <a:sym typeface="Arial"/>
              </a:rPr>
              <a:t>TriageED</a:t>
            </a:r>
            <a:r>
              <a:rPr lang="es-EC" sz="2800" b="1" i="0" u="none" strike="noStrike" cap="none" dirty="0">
                <a:solidFill>
                  <a:srgbClr val="FFFFFF"/>
                </a:solidFill>
                <a:latin typeface="Arial"/>
                <a:ea typeface="Arial"/>
                <a:cs typeface="Arial"/>
                <a:sym typeface="Arial"/>
              </a:rPr>
              <a:t> -Sistema </a:t>
            </a:r>
            <a:r>
              <a:rPr lang="es-EC" sz="2800" b="1" i="0" u="none" strike="noStrike" cap="none" dirty="0" err="1">
                <a:solidFill>
                  <a:srgbClr val="FFFFFF"/>
                </a:solidFill>
                <a:latin typeface="Arial"/>
                <a:ea typeface="Arial"/>
                <a:cs typeface="Arial"/>
                <a:sym typeface="Arial"/>
              </a:rPr>
              <a:t>deTriage</a:t>
            </a:r>
            <a:endParaRPr sz="1400" b="0" i="0" u="none" strike="noStrike" cap="none" dirty="0">
              <a:solidFill>
                <a:srgbClr val="000000"/>
              </a:solidFill>
              <a:latin typeface="Arial"/>
              <a:ea typeface="Arial"/>
              <a:cs typeface="Arial"/>
              <a:sym typeface="Arial"/>
            </a:endParaRPr>
          </a:p>
        </p:txBody>
      </p:sp>
      <p:sp>
        <p:nvSpPr>
          <p:cNvPr id="4" name="Google Shape;112;p1">
            <a:extLst>
              <a:ext uri="{FF2B5EF4-FFF2-40B4-BE49-F238E27FC236}">
                <a16:creationId xmlns:a16="http://schemas.microsoft.com/office/drawing/2014/main" id="{E7113F67-3C64-49B3-A901-08A0F2FC4FF5}"/>
              </a:ext>
            </a:extLst>
          </p:cNvPr>
          <p:cNvSpPr txBox="1"/>
          <p:nvPr/>
        </p:nvSpPr>
        <p:spPr>
          <a:xfrm>
            <a:off x="312612" y="2586501"/>
            <a:ext cx="4442268" cy="646290"/>
          </a:xfrm>
          <a:prstGeom prst="rect">
            <a:avLst/>
          </a:prstGeom>
          <a:solidFill>
            <a:schemeClr val="bg1"/>
          </a:solid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Integrantes: Corina Acosta y Diego</a:t>
            </a:r>
          </a:p>
          <a:p>
            <a:pPr marR="0" lvl="0" algn="l" rtl="0">
              <a:lnSpc>
                <a:spcPct val="100000"/>
              </a:lnSpc>
              <a:spcBef>
                <a:spcPts val="0"/>
              </a:spcBef>
              <a:spcAft>
                <a:spcPts val="0"/>
              </a:spcAft>
              <a:buClr>
                <a:srgbClr val="000000"/>
              </a:buClr>
              <a:buSzPts val="1400"/>
            </a:pPr>
            <a:r>
              <a:rPr lang="es-ES" sz="1800" b="0" i="0" u="none" strike="noStrike" cap="none" dirty="0" err="1">
                <a:solidFill>
                  <a:srgbClr val="000000"/>
                </a:solidFill>
                <a:latin typeface="Arial"/>
                <a:ea typeface="Arial"/>
                <a:cs typeface="Arial"/>
                <a:sym typeface="Arial"/>
              </a:rPr>
              <a:t>Semanate</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
          <p:cNvSpPr txBox="1"/>
          <p:nvPr/>
        </p:nvSpPr>
        <p:spPr>
          <a:xfrm>
            <a:off x="4978221" y="3497478"/>
            <a:ext cx="1846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
          <p:cNvSpPr txBox="1"/>
          <p:nvPr/>
        </p:nvSpPr>
        <p:spPr>
          <a:xfrm>
            <a:off x="968829" y="924871"/>
            <a:ext cx="323684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C" sz="2400" b="1" dirty="0">
                <a:solidFill>
                  <a:srgbClr val="0D6230"/>
                </a:solidFill>
              </a:rPr>
              <a:t>Introducción</a:t>
            </a:r>
            <a:r>
              <a:rPr lang="es-EC" sz="2400" b="1" i="0" u="none" strike="noStrike" cap="none" dirty="0">
                <a:solidFill>
                  <a:srgbClr val="0D623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112" name="Google Shape;112;p1"/>
          <p:cNvSpPr txBox="1"/>
          <p:nvPr/>
        </p:nvSpPr>
        <p:spPr>
          <a:xfrm>
            <a:off x="968829" y="1646022"/>
            <a:ext cx="7107936" cy="2308284"/>
          </a:xfrm>
          <a:prstGeom prst="rect">
            <a:avLst/>
          </a:prstGeom>
          <a:solidFill>
            <a:schemeClr val="bg1"/>
          </a:solid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El proyecto </a:t>
            </a:r>
            <a:r>
              <a:rPr lang="es-ES" sz="1800" b="0" i="0" u="none" strike="noStrike" cap="none" dirty="0" err="1">
                <a:solidFill>
                  <a:srgbClr val="000000"/>
                </a:solidFill>
                <a:latin typeface="Arial"/>
                <a:ea typeface="Arial"/>
                <a:cs typeface="Arial"/>
                <a:sym typeface="Arial"/>
              </a:rPr>
              <a:t>TriageED</a:t>
            </a:r>
            <a:r>
              <a:rPr lang="es-ES" sz="1800" b="0" i="0" u="none" strike="noStrike" cap="none" dirty="0">
                <a:solidFill>
                  <a:srgbClr val="000000"/>
                </a:solidFill>
                <a:latin typeface="Arial"/>
                <a:ea typeface="Arial"/>
                <a:cs typeface="Arial"/>
                <a:sym typeface="Arial"/>
              </a:rPr>
              <a:t> busca mejorar la gestión hospitalaria mediante un sistema de </a:t>
            </a:r>
            <a:r>
              <a:rPr lang="es-ES" sz="1800" b="0" i="0" u="none" strike="noStrike" cap="none" dirty="0" err="1">
                <a:solidFill>
                  <a:srgbClr val="000000"/>
                </a:solidFill>
                <a:latin typeface="Arial"/>
                <a:ea typeface="Arial"/>
                <a:cs typeface="Arial"/>
                <a:sym typeface="Arial"/>
              </a:rPr>
              <a:t>triage</a:t>
            </a:r>
            <a:r>
              <a:rPr lang="es-ES" sz="1800" b="0" i="0" u="none" strike="noStrike" cap="none" dirty="0">
                <a:solidFill>
                  <a:srgbClr val="000000"/>
                </a:solidFill>
                <a:latin typeface="Arial"/>
                <a:ea typeface="Arial"/>
                <a:cs typeface="Arial"/>
                <a:sym typeface="Arial"/>
              </a:rPr>
              <a:t>. Este sistema es esencial en emergencias, ya que prioriza la atención de pacientes según su necesidad médica. A través de la simulación de la gestión de solicitudes utilizando Tipos de Datos Abstractos (TDA) y la arquitectura </a:t>
            </a:r>
            <a:r>
              <a:rPr lang="es-ES" sz="1800" b="0" i="0" u="none" strike="noStrike" cap="none" dirty="0" err="1">
                <a:solidFill>
                  <a:srgbClr val="000000"/>
                </a:solidFill>
                <a:latin typeface="Arial"/>
                <a:ea typeface="Arial"/>
                <a:cs typeface="Arial"/>
                <a:sym typeface="Arial"/>
              </a:rPr>
              <a:t>ModeloVista</a:t>
            </a:r>
            <a:r>
              <a:rPr lang="es-ES" sz="1800" b="0" i="0" u="none" strike="noStrike" cap="none" dirty="0">
                <a:solidFill>
                  <a:srgbClr val="000000"/>
                </a:solidFill>
                <a:latin typeface="Arial"/>
                <a:ea typeface="Arial"/>
                <a:cs typeface="Arial"/>
                <a:sym typeface="Arial"/>
              </a:rPr>
              <a:t>-Controlador (MVC), se logra una interfaz amigable en Java con GUI Swing. Este enfoque permite un mejor entendimiento y aplicación de estructuras de datos dinámicas</a:t>
            </a:r>
            <a:r>
              <a:rPr lang="es-MX" sz="1800" b="0" i="0" u="none" strike="noStrike" cap="none" dirty="0">
                <a:solidFill>
                  <a:srgbClr val="000000"/>
                </a:solidFill>
                <a:latin typeface="Arial"/>
                <a:ea typeface="Arial"/>
                <a:cs typeface="Arial"/>
                <a:sym typeface="Arial"/>
              </a:rPr>
              <a:t> </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7984262-812B-5AC2-F531-132231A6E9EC}"/>
            </a:ext>
          </a:extLst>
        </p:cNvPr>
        <p:cNvGrpSpPr/>
        <p:nvPr/>
      </p:nvGrpSpPr>
      <p:grpSpPr>
        <a:xfrm>
          <a:off x="0" y="0"/>
          <a:ext cx="0" cy="0"/>
          <a:chOff x="0" y="0"/>
          <a:chExt cx="0" cy="0"/>
        </a:xfrm>
      </p:grpSpPr>
      <p:sp>
        <p:nvSpPr>
          <p:cNvPr id="110" name="Google Shape;110;p1">
            <a:extLst>
              <a:ext uri="{FF2B5EF4-FFF2-40B4-BE49-F238E27FC236}">
                <a16:creationId xmlns:a16="http://schemas.microsoft.com/office/drawing/2014/main" id="{22F9CFE0-2D2B-76AD-EE0F-784BD0F105B1}"/>
              </a:ext>
            </a:extLst>
          </p:cNvPr>
          <p:cNvSpPr txBox="1"/>
          <p:nvPr/>
        </p:nvSpPr>
        <p:spPr>
          <a:xfrm>
            <a:off x="4978221" y="3497478"/>
            <a:ext cx="1846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
            <a:extLst>
              <a:ext uri="{FF2B5EF4-FFF2-40B4-BE49-F238E27FC236}">
                <a16:creationId xmlns:a16="http://schemas.microsoft.com/office/drawing/2014/main" id="{271DCB15-118F-65B1-636D-917852F68BF4}"/>
              </a:ext>
            </a:extLst>
          </p:cNvPr>
          <p:cNvSpPr txBox="1"/>
          <p:nvPr/>
        </p:nvSpPr>
        <p:spPr>
          <a:xfrm>
            <a:off x="968829" y="924871"/>
            <a:ext cx="457355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C" sz="2400" b="1" dirty="0">
                <a:solidFill>
                  <a:srgbClr val="0D6230"/>
                </a:solidFill>
              </a:rPr>
              <a:t>Estructuras y arquitecturas</a:t>
            </a:r>
            <a:r>
              <a:rPr lang="es-EC" sz="2400" b="1" i="0" u="none" strike="noStrike" cap="none" dirty="0">
                <a:solidFill>
                  <a:srgbClr val="0D623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112" name="Google Shape;112;p1">
            <a:extLst>
              <a:ext uri="{FF2B5EF4-FFF2-40B4-BE49-F238E27FC236}">
                <a16:creationId xmlns:a16="http://schemas.microsoft.com/office/drawing/2014/main" id="{1621E273-4A8F-776F-1CFF-2EA17753DDC4}"/>
              </a:ext>
            </a:extLst>
          </p:cNvPr>
          <p:cNvSpPr txBox="1"/>
          <p:nvPr/>
        </p:nvSpPr>
        <p:spPr>
          <a:xfrm>
            <a:off x="968829" y="1646022"/>
            <a:ext cx="7107936" cy="2862282"/>
          </a:xfrm>
          <a:prstGeom prst="rect">
            <a:avLst/>
          </a:prstGeom>
          <a:solidFill>
            <a:schemeClr val="bg1"/>
          </a:solid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El proyecto </a:t>
            </a:r>
            <a:r>
              <a:rPr lang="es-ES" sz="1800" b="0" i="0" u="none" strike="noStrike" cap="none" dirty="0" err="1">
                <a:solidFill>
                  <a:srgbClr val="000000"/>
                </a:solidFill>
                <a:latin typeface="Arial"/>
                <a:ea typeface="Arial"/>
                <a:cs typeface="Arial"/>
                <a:sym typeface="Arial"/>
              </a:rPr>
              <a:t>TriageED</a:t>
            </a:r>
            <a:r>
              <a:rPr lang="es-ES" sz="1800" b="0" i="0" u="none" strike="noStrike" cap="none" dirty="0">
                <a:solidFill>
                  <a:srgbClr val="000000"/>
                </a:solidFill>
                <a:latin typeface="Arial"/>
                <a:ea typeface="Arial"/>
                <a:cs typeface="Arial"/>
                <a:sym typeface="Arial"/>
              </a:rPr>
              <a:t> se fundamenta en estructuras de</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datos dinámicas que son clave para la gestión de</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pacientes. Utilizando la arquitectura Modelo-</a:t>
            </a:r>
            <a:r>
              <a:rPr lang="es-ES" sz="1800" b="0" i="0" u="none" strike="noStrike" cap="none" dirty="0" err="1">
                <a:solidFill>
                  <a:srgbClr val="000000"/>
                </a:solidFill>
                <a:latin typeface="Arial"/>
                <a:ea typeface="Arial"/>
                <a:cs typeface="Arial"/>
                <a:sym typeface="Arial"/>
              </a:rPr>
              <a:t>VistaControlador</a:t>
            </a:r>
            <a:r>
              <a:rPr lang="es-ES" sz="1800" b="0" i="0" u="none" strike="noStrike" cap="none" dirty="0">
                <a:solidFill>
                  <a:srgbClr val="000000"/>
                </a:solidFill>
                <a:latin typeface="Arial"/>
                <a:ea typeface="Arial"/>
                <a:cs typeface="Arial"/>
                <a:sym typeface="Arial"/>
              </a:rPr>
              <a:t> (MVC), se organiza el sistema para</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mantener una clara separación de responsabilidades. El</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Modelo incluye estructuras como la Cola de Prioridad y</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la Lista Enlazada, la Vista proporciona una interfaz</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gráfica amigable mediante GUI Swing, y el Controlador</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coordina las interacciones, facilitando el mantenimiento</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y escalabilidad del sistema.</a:t>
            </a:r>
            <a:r>
              <a:rPr lang="es-MX" sz="1800" b="0" i="0" u="none" strike="noStrike" cap="none" dirty="0">
                <a:solidFill>
                  <a:srgbClr val="000000"/>
                </a:solidFill>
                <a:latin typeface="Arial"/>
                <a:ea typeface="Arial"/>
                <a:cs typeface="Arial"/>
                <a:sym typeface="Arial"/>
              </a:rPr>
              <a:t> </a:t>
            </a: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546073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7984262-812B-5AC2-F531-132231A6E9EC}"/>
            </a:ext>
          </a:extLst>
        </p:cNvPr>
        <p:cNvGrpSpPr/>
        <p:nvPr/>
      </p:nvGrpSpPr>
      <p:grpSpPr>
        <a:xfrm>
          <a:off x="0" y="0"/>
          <a:ext cx="0" cy="0"/>
          <a:chOff x="0" y="0"/>
          <a:chExt cx="0" cy="0"/>
        </a:xfrm>
      </p:grpSpPr>
      <p:sp>
        <p:nvSpPr>
          <p:cNvPr id="110" name="Google Shape;110;p1">
            <a:extLst>
              <a:ext uri="{FF2B5EF4-FFF2-40B4-BE49-F238E27FC236}">
                <a16:creationId xmlns:a16="http://schemas.microsoft.com/office/drawing/2014/main" id="{22F9CFE0-2D2B-76AD-EE0F-784BD0F105B1}"/>
              </a:ext>
            </a:extLst>
          </p:cNvPr>
          <p:cNvSpPr txBox="1"/>
          <p:nvPr/>
        </p:nvSpPr>
        <p:spPr>
          <a:xfrm>
            <a:off x="4978221" y="3497478"/>
            <a:ext cx="1846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
            <a:extLst>
              <a:ext uri="{FF2B5EF4-FFF2-40B4-BE49-F238E27FC236}">
                <a16:creationId xmlns:a16="http://schemas.microsoft.com/office/drawing/2014/main" id="{271DCB15-118F-65B1-636D-917852F68BF4}"/>
              </a:ext>
            </a:extLst>
          </p:cNvPr>
          <p:cNvSpPr txBox="1"/>
          <p:nvPr/>
        </p:nvSpPr>
        <p:spPr>
          <a:xfrm>
            <a:off x="496999" y="746523"/>
            <a:ext cx="457355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C" sz="2400" b="1" dirty="0">
                <a:solidFill>
                  <a:srgbClr val="0D6230"/>
                </a:solidFill>
              </a:rPr>
              <a:t> Algoritmos Clave</a:t>
            </a:r>
            <a:r>
              <a:rPr lang="es-EC" sz="2400" b="1" i="0" u="none" strike="noStrike" cap="none" dirty="0">
                <a:solidFill>
                  <a:srgbClr val="0D623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112" name="Google Shape;112;p1">
            <a:extLst>
              <a:ext uri="{FF2B5EF4-FFF2-40B4-BE49-F238E27FC236}">
                <a16:creationId xmlns:a16="http://schemas.microsoft.com/office/drawing/2014/main" id="{1621E273-4A8F-776F-1CFF-2EA17753DDC4}"/>
              </a:ext>
            </a:extLst>
          </p:cNvPr>
          <p:cNvSpPr txBox="1"/>
          <p:nvPr/>
        </p:nvSpPr>
        <p:spPr>
          <a:xfrm>
            <a:off x="591279" y="1208147"/>
            <a:ext cx="7583892" cy="1754286"/>
          </a:xfrm>
          <a:prstGeom prst="rect">
            <a:avLst/>
          </a:prstGeom>
          <a:solidFill>
            <a:schemeClr val="bg1"/>
          </a:solid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El ordenamiento por intercambio opera realizando comparaciones sucesivas entre elementos adyacentes de la lista. Cuando se encuentra que dos elementos están en el orden incorrecto según su prioridad, se intercambian inmediatamente de posición. Este proceso se repite hasta que el elemento de más alta prioridad "asciende" a la primera posición de la cola. Esto es esencial para mantener la cola organizada.</a:t>
            </a:r>
            <a:endParaRPr sz="1800" b="0" i="0" u="none" strike="noStrike" cap="none" dirty="0">
              <a:solidFill>
                <a:srgbClr val="000000"/>
              </a:solidFill>
              <a:latin typeface="Arial"/>
              <a:ea typeface="Arial"/>
              <a:cs typeface="Arial"/>
              <a:sym typeface="Arial"/>
            </a:endParaRPr>
          </a:p>
        </p:txBody>
      </p:sp>
      <p:pic>
        <p:nvPicPr>
          <p:cNvPr id="3" name="Imagen 2">
            <a:extLst>
              <a:ext uri="{FF2B5EF4-FFF2-40B4-BE49-F238E27FC236}">
                <a16:creationId xmlns:a16="http://schemas.microsoft.com/office/drawing/2014/main" id="{1AE9F978-CA02-4ED5-B77E-84369041FDA3}"/>
              </a:ext>
            </a:extLst>
          </p:cNvPr>
          <p:cNvPicPr>
            <a:picLocks noChangeAspect="1"/>
          </p:cNvPicPr>
          <p:nvPr/>
        </p:nvPicPr>
        <p:blipFill>
          <a:blip r:embed="rId3"/>
          <a:stretch>
            <a:fillRect/>
          </a:stretch>
        </p:blipFill>
        <p:spPr>
          <a:xfrm>
            <a:off x="666556" y="3090808"/>
            <a:ext cx="7000146" cy="1689090"/>
          </a:xfrm>
          <a:prstGeom prst="rect">
            <a:avLst/>
          </a:prstGeom>
        </p:spPr>
      </p:pic>
    </p:spTree>
    <p:extLst>
      <p:ext uri="{BB962C8B-B14F-4D97-AF65-F5344CB8AC3E}">
        <p14:creationId xmlns:p14="http://schemas.microsoft.com/office/powerpoint/2010/main" val="54500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7984262-812B-5AC2-F531-132231A6E9EC}"/>
            </a:ext>
          </a:extLst>
        </p:cNvPr>
        <p:cNvGrpSpPr/>
        <p:nvPr/>
      </p:nvGrpSpPr>
      <p:grpSpPr>
        <a:xfrm>
          <a:off x="0" y="0"/>
          <a:ext cx="0" cy="0"/>
          <a:chOff x="0" y="0"/>
          <a:chExt cx="0" cy="0"/>
        </a:xfrm>
      </p:grpSpPr>
      <p:sp>
        <p:nvSpPr>
          <p:cNvPr id="110" name="Google Shape;110;p1">
            <a:extLst>
              <a:ext uri="{FF2B5EF4-FFF2-40B4-BE49-F238E27FC236}">
                <a16:creationId xmlns:a16="http://schemas.microsoft.com/office/drawing/2014/main" id="{22F9CFE0-2D2B-76AD-EE0F-784BD0F105B1}"/>
              </a:ext>
            </a:extLst>
          </p:cNvPr>
          <p:cNvSpPr txBox="1"/>
          <p:nvPr/>
        </p:nvSpPr>
        <p:spPr>
          <a:xfrm>
            <a:off x="4978221" y="3497478"/>
            <a:ext cx="1846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
            <a:extLst>
              <a:ext uri="{FF2B5EF4-FFF2-40B4-BE49-F238E27FC236}">
                <a16:creationId xmlns:a16="http://schemas.microsoft.com/office/drawing/2014/main" id="{271DCB15-118F-65B1-636D-917852F68BF4}"/>
              </a:ext>
            </a:extLst>
          </p:cNvPr>
          <p:cNvSpPr txBox="1"/>
          <p:nvPr/>
        </p:nvSpPr>
        <p:spPr>
          <a:xfrm>
            <a:off x="968829" y="924871"/>
            <a:ext cx="457355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C" sz="2400" b="1" dirty="0">
                <a:solidFill>
                  <a:srgbClr val="0D6230"/>
                </a:solidFill>
              </a:rPr>
              <a:t> Algoritmos Clave</a:t>
            </a:r>
            <a:r>
              <a:rPr lang="es-EC" sz="2400" b="1" i="0" u="none" strike="noStrike" cap="none" dirty="0">
                <a:solidFill>
                  <a:srgbClr val="0D623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112" name="Google Shape;112;p1">
            <a:extLst>
              <a:ext uri="{FF2B5EF4-FFF2-40B4-BE49-F238E27FC236}">
                <a16:creationId xmlns:a16="http://schemas.microsoft.com/office/drawing/2014/main" id="{1621E273-4A8F-776F-1CFF-2EA17753DDC4}"/>
              </a:ext>
            </a:extLst>
          </p:cNvPr>
          <p:cNvSpPr txBox="1"/>
          <p:nvPr/>
        </p:nvSpPr>
        <p:spPr>
          <a:xfrm>
            <a:off x="968829" y="1646022"/>
            <a:ext cx="2827619" cy="2862282"/>
          </a:xfrm>
          <a:prstGeom prst="rect">
            <a:avLst/>
          </a:prstGeom>
          <a:solidFill>
            <a:schemeClr val="bg1"/>
          </a:solid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La búsqueda lineal es un</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método esencial para</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localizar pacientes en la</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lista enlazada, donde cada</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elemento se revisa</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secuencialmente,</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ofreciendo simplicidad en</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la implementación.</a:t>
            </a:r>
          </a:p>
          <a:p>
            <a:pPr marR="0" lvl="0" algn="l" rtl="0">
              <a:lnSpc>
                <a:spcPct val="100000"/>
              </a:lnSpc>
              <a:spcBef>
                <a:spcPts val="0"/>
              </a:spcBef>
              <a:spcAft>
                <a:spcPts val="0"/>
              </a:spcAft>
              <a:buClr>
                <a:srgbClr val="000000"/>
              </a:buClr>
              <a:buSzPts val="1400"/>
            </a:pPr>
            <a:r>
              <a:rPr lang="es-MX" sz="1800" b="0" i="0" u="none" strike="noStrike" cap="none" dirty="0">
                <a:solidFill>
                  <a:srgbClr val="000000"/>
                </a:solidFill>
                <a:latin typeface="Arial"/>
                <a:ea typeface="Arial"/>
                <a:cs typeface="Arial"/>
                <a:sym typeface="Arial"/>
              </a:rPr>
              <a:t> </a:t>
            </a:r>
            <a:endParaRPr sz="1800" b="0" i="0" u="none" strike="noStrike" cap="none" dirty="0">
              <a:solidFill>
                <a:srgbClr val="000000"/>
              </a:solidFill>
              <a:latin typeface="Arial"/>
              <a:ea typeface="Arial"/>
              <a:cs typeface="Arial"/>
              <a:sym typeface="Arial"/>
            </a:endParaRPr>
          </a:p>
        </p:txBody>
      </p:sp>
      <p:pic>
        <p:nvPicPr>
          <p:cNvPr id="3" name="Imagen 2">
            <a:extLst>
              <a:ext uri="{FF2B5EF4-FFF2-40B4-BE49-F238E27FC236}">
                <a16:creationId xmlns:a16="http://schemas.microsoft.com/office/drawing/2014/main" id="{344179A5-BFCA-488D-B936-1E381872D6C6}"/>
              </a:ext>
            </a:extLst>
          </p:cNvPr>
          <p:cNvPicPr>
            <a:picLocks noChangeAspect="1"/>
          </p:cNvPicPr>
          <p:nvPr/>
        </p:nvPicPr>
        <p:blipFill>
          <a:blip r:embed="rId3"/>
          <a:stretch>
            <a:fillRect/>
          </a:stretch>
        </p:blipFill>
        <p:spPr>
          <a:xfrm>
            <a:off x="4165780" y="1809850"/>
            <a:ext cx="4540881" cy="1841516"/>
          </a:xfrm>
          <a:prstGeom prst="rect">
            <a:avLst/>
          </a:prstGeom>
        </p:spPr>
      </p:pic>
    </p:spTree>
    <p:extLst>
      <p:ext uri="{BB962C8B-B14F-4D97-AF65-F5344CB8AC3E}">
        <p14:creationId xmlns:p14="http://schemas.microsoft.com/office/powerpoint/2010/main" val="975775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7984262-812B-5AC2-F531-132231A6E9EC}"/>
            </a:ext>
          </a:extLst>
        </p:cNvPr>
        <p:cNvGrpSpPr/>
        <p:nvPr/>
      </p:nvGrpSpPr>
      <p:grpSpPr>
        <a:xfrm>
          <a:off x="0" y="0"/>
          <a:ext cx="0" cy="0"/>
          <a:chOff x="0" y="0"/>
          <a:chExt cx="0" cy="0"/>
        </a:xfrm>
      </p:grpSpPr>
      <p:sp>
        <p:nvSpPr>
          <p:cNvPr id="110" name="Google Shape;110;p1">
            <a:extLst>
              <a:ext uri="{FF2B5EF4-FFF2-40B4-BE49-F238E27FC236}">
                <a16:creationId xmlns:a16="http://schemas.microsoft.com/office/drawing/2014/main" id="{22F9CFE0-2D2B-76AD-EE0F-784BD0F105B1}"/>
              </a:ext>
            </a:extLst>
          </p:cNvPr>
          <p:cNvSpPr txBox="1"/>
          <p:nvPr/>
        </p:nvSpPr>
        <p:spPr>
          <a:xfrm>
            <a:off x="4978221" y="3497478"/>
            <a:ext cx="1846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
            <a:extLst>
              <a:ext uri="{FF2B5EF4-FFF2-40B4-BE49-F238E27FC236}">
                <a16:creationId xmlns:a16="http://schemas.microsoft.com/office/drawing/2014/main" id="{271DCB15-118F-65B1-636D-917852F68BF4}"/>
              </a:ext>
            </a:extLst>
          </p:cNvPr>
          <p:cNvSpPr txBox="1"/>
          <p:nvPr/>
        </p:nvSpPr>
        <p:spPr>
          <a:xfrm>
            <a:off x="968829" y="924871"/>
            <a:ext cx="457355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s-EC" sz="2400" b="1" dirty="0">
                <a:solidFill>
                  <a:srgbClr val="0D6230"/>
                </a:solidFill>
              </a:rPr>
              <a:t> Conclusiones</a:t>
            </a:r>
            <a:r>
              <a:rPr lang="es-EC" sz="2400" b="1" i="0" u="none" strike="noStrike" cap="none" dirty="0">
                <a:solidFill>
                  <a:srgbClr val="0D623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p:txBody>
      </p:sp>
      <p:sp>
        <p:nvSpPr>
          <p:cNvPr id="112" name="Google Shape;112;p1">
            <a:extLst>
              <a:ext uri="{FF2B5EF4-FFF2-40B4-BE49-F238E27FC236}">
                <a16:creationId xmlns:a16="http://schemas.microsoft.com/office/drawing/2014/main" id="{1621E273-4A8F-776F-1CFF-2EA17753DDC4}"/>
              </a:ext>
            </a:extLst>
          </p:cNvPr>
          <p:cNvSpPr txBox="1"/>
          <p:nvPr/>
        </p:nvSpPr>
        <p:spPr>
          <a:xfrm>
            <a:off x="968829" y="1646022"/>
            <a:ext cx="6924869" cy="3416279"/>
          </a:xfrm>
          <a:prstGeom prst="rect">
            <a:avLst/>
          </a:prstGeom>
          <a:solidFill>
            <a:schemeClr val="bg1"/>
          </a:solid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400"/>
              <a:buFont typeface="Arial" panose="020B0604020202020204" pitchFamily="34" charset="0"/>
              <a:buChar char="•"/>
            </a:pPr>
            <a:r>
              <a:rPr lang="es-ES" sz="1800" b="0" i="0" u="none" strike="noStrike" cap="none" dirty="0">
                <a:solidFill>
                  <a:srgbClr val="000000"/>
                </a:solidFill>
                <a:latin typeface="Arial"/>
                <a:ea typeface="Arial"/>
                <a:cs typeface="Arial"/>
                <a:sym typeface="Arial"/>
              </a:rPr>
              <a:t>La implementación de estructuras de datos dinámicas</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en </a:t>
            </a:r>
            <a:r>
              <a:rPr lang="es-ES" sz="1800" b="0" i="0" u="none" strike="noStrike" cap="none" dirty="0" err="1">
                <a:solidFill>
                  <a:srgbClr val="000000"/>
                </a:solidFill>
                <a:latin typeface="Arial"/>
                <a:ea typeface="Arial"/>
                <a:cs typeface="Arial"/>
                <a:sym typeface="Arial"/>
              </a:rPr>
              <a:t>TriageED</a:t>
            </a:r>
            <a:r>
              <a:rPr lang="es-ES" sz="1800" b="0" i="0" u="none" strike="noStrike" cap="none" dirty="0">
                <a:solidFill>
                  <a:srgbClr val="000000"/>
                </a:solidFill>
                <a:latin typeface="Arial"/>
                <a:ea typeface="Arial"/>
                <a:cs typeface="Arial"/>
                <a:sym typeface="Arial"/>
              </a:rPr>
              <a:t> ha sido exitosa, demostrando una</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comprensión sólida de los Tipos de Datos Abstractos. La</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cola de prioridad ha facilitado la gestión eficaz de</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pacientes, mejorando potencialmente la atención</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hospitalaria en situaciones de emergencia.</a:t>
            </a:r>
          </a:p>
          <a:p>
            <a:pPr marL="285750" marR="0" lvl="0" indent="-285750" algn="l" rtl="0">
              <a:lnSpc>
                <a:spcPct val="100000"/>
              </a:lnSpc>
              <a:spcBef>
                <a:spcPts val="0"/>
              </a:spcBef>
              <a:spcAft>
                <a:spcPts val="0"/>
              </a:spcAft>
              <a:buClr>
                <a:srgbClr val="000000"/>
              </a:buClr>
              <a:buSzPts val="1400"/>
              <a:buFont typeface="Arial" panose="020B0604020202020204" pitchFamily="34" charset="0"/>
              <a:buChar char="•"/>
            </a:pPr>
            <a:r>
              <a:rPr lang="es-ES" sz="1800" b="0" i="0" u="none" strike="noStrike" cap="none" dirty="0">
                <a:solidFill>
                  <a:srgbClr val="000000"/>
                </a:solidFill>
                <a:latin typeface="Arial"/>
                <a:ea typeface="Arial"/>
                <a:cs typeface="Arial"/>
                <a:sym typeface="Arial"/>
              </a:rPr>
              <a:t>Se destaca la arquitectura MVC como una herramienta</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clave para la organización y mantenimiento del código,</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así como el valor educativo del proyecto en la formación</a:t>
            </a:r>
          </a:p>
          <a:p>
            <a:pPr marR="0" lvl="0" algn="l" rtl="0">
              <a:lnSpc>
                <a:spcPct val="100000"/>
              </a:lnSpc>
              <a:spcBef>
                <a:spcPts val="0"/>
              </a:spcBef>
              <a:spcAft>
                <a:spcPts val="0"/>
              </a:spcAft>
              <a:buClr>
                <a:srgbClr val="000000"/>
              </a:buClr>
              <a:buSzPts val="1400"/>
            </a:pPr>
            <a:r>
              <a:rPr lang="es-ES" sz="1800" b="0" i="0" u="none" strike="noStrike" cap="none" dirty="0">
                <a:solidFill>
                  <a:srgbClr val="000000"/>
                </a:solidFill>
                <a:latin typeface="Arial"/>
                <a:ea typeface="Arial"/>
                <a:cs typeface="Arial"/>
                <a:sym typeface="Arial"/>
              </a:rPr>
              <a:t>de futuros profesionales de la salud.</a:t>
            </a:r>
          </a:p>
          <a:p>
            <a:pPr marR="0" lvl="0" algn="l" rtl="0">
              <a:lnSpc>
                <a:spcPct val="100000"/>
              </a:lnSpc>
              <a:spcBef>
                <a:spcPts val="0"/>
              </a:spcBef>
              <a:spcAft>
                <a:spcPts val="0"/>
              </a:spcAft>
              <a:buClr>
                <a:srgbClr val="000000"/>
              </a:buClr>
              <a:buSzPts val="1400"/>
            </a:pPr>
            <a:endParaRPr lang="es-ES" sz="1800" b="0" i="0" u="none" strike="noStrike" cap="none" dirty="0">
              <a:solidFill>
                <a:srgbClr val="000000"/>
              </a:solidFill>
              <a:latin typeface="Arial"/>
              <a:ea typeface="Arial"/>
              <a:cs typeface="Arial"/>
              <a:sym typeface="Arial"/>
            </a:endParaRPr>
          </a:p>
          <a:p>
            <a:pPr marR="0" lvl="0" algn="l" rtl="0">
              <a:lnSpc>
                <a:spcPct val="100000"/>
              </a:lnSpc>
              <a:spcBef>
                <a:spcPts val="0"/>
              </a:spcBef>
              <a:spcAft>
                <a:spcPts val="0"/>
              </a:spcAft>
              <a:buClr>
                <a:srgbClr val="000000"/>
              </a:buClr>
              <a:buSzPts val="1400"/>
            </a:pPr>
            <a:r>
              <a:rPr lang="es-MX" sz="1800" b="0" i="0" u="none" strike="noStrike" cap="none" dirty="0">
                <a:solidFill>
                  <a:srgbClr val="000000"/>
                </a:solidFill>
                <a:latin typeface="Arial"/>
                <a:ea typeface="Arial"/>
                <a:cs typeface="Arial"/>
                <a:sym typeface="Arial"/>
              </a:rPr>
              <a:t> </a:t>
            </a:r>
            <a:endParaRPr sz="18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372410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11"/>
          <p:cNvSpPr txBox="1"/>
          <p:nvPr/>
        </p:nvSpPr>
        <p:spPr>
          <a:xfrm>
            <a:off x="855738" y="1297123"/>
            <a:ext cx="1846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111"/>
          <p:cNvSpPr txBox="1"/>
          <p:nvPr/>
        </p:nvSpPr>
        <p:spPr>
          <a:xfrm>
            <a:off x="998361" y="1174881"/>
            <a:ext cx="1846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93" name="Google Shape;293;p111"/>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94" name="Google Shape;294;p111"/>
          <p:cNvSpPr txBox="1"/>
          <p:nvPr/>
        </p:nvSpPr>
        <p:spPr>
          <a:xfrm>
            <a:off x="775909" y="2467188"/>
            <a:ext cx="8121348" cy="523180"/>
          </a:xfrm>
          <a:prstGeom prst="rect">
            <a:avLst/>
          </a:prstGeom>
          <a:noFill/>
          <a:ln>
            <a:noFill/>
          </a:ln>
        </p:spPr>
        <p:txBody>
          <a:bodyPr spcFirstLastPara="1" wrap="square" lIns="91425" tIns="45700" rIns="91425" bIns="45700" anchor="t" anchorCtr="0">
            <a:spAutoFit/>
          </a:bodyPr>
          <a:lstStyle/>
          <a:p>
            <a:pPr algn="ctr">
              <a:buSzPts val="2800"/>
            </a:pPr>
            <a:r>
              <a:rPr lang="es-EC" sz="2800" b="1" dirty="0">
                <a:solidFill>
                  <a:schemeClr val="lt1"/>
                </a:solidFill>
              </a:rPr>
              <a:t>Gracias por su atención</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30"/>
          <p:cNvSpPr txBox="1"/>
          <p:nvPr/>
        </p:nvSpPr>
        <p:spPr>
          <a:xfrm>
            <a:off x="4978221" y="3497478"/>
            <a:ext cx="1846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0" name="Google Shape;300;p130"/>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301" name="Google Shape;301;p130" descr="IMG_2583.JPG"/>
          <p:cNvPicPr preferRelativeResize="0"/>
          <p:nvPr/>
        </p:nvPicPr>
        <p:blipFill rotWithShape="1">
          <a:blip r:embed="rId4">
            <a:alphaModFix/>
          </a:blip>
          <a:srcRect l="1439" r="3179" b="24974"/>
          <a:stretch/>
        </p:blipFill>
        <p:spPr>
          <a:xfrm>
            <a:off x="0" y="335737"/>
            <a:ext cx="9144000" cy="4744263"/>
          </a:xfrm>
          <a:prstGeom prst="rect">
            <a:avLst/>
          </a:prstGeom>
          <a:ln>
            <a:noFill/>
          </a:ln>
          <a:effectLst>
            <a:softEdge rad="112500"/>
          </a:effectLst>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370</Words>
  <Application>Microsoft Office PowerPoint</Application>
  <PresentationFormat>Presentación en pantalla (16:9)</PresentationFormat>
  <Paragraphs>41</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Damian</dc:creator>
  <cp:lastModifiedBy>ddsemanate@espe.edu.ec</cp:lastModifiedBy>
  <cp:revision>4</cp:revision>
  <dcterms:modified xsi:type="dcterms:W3CDTF">2025-12-01T14:11:36Z</dcterms:modified>
</cp:coreProperties>
</file>